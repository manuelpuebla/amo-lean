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AMO-Lean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D4FF"/>
                </a:solidFill>
              </a:defRPr>
            </a:pPr>
            <a:r>
              <a:t>Automatic Mathematical Optimizer in Lean</a:t>
            </a:r>
            <a:br/>
            <a:r>
              <a:t>Compilador de Optimización Formal para Primitivas Criptográficas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Qué es AMO-Lean (y qué NO es)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El DSL: MatExpr, VecExpr, SigmaExpr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Pipeline de Optimización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Ejemplos Concretos en ZK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Benchmarks y Eficiencia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Estado Actual vs Producción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Escenarios de Uso en zkVMs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86200" y="1371600"/>
            <a:ext cx="1371600" cy="13716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500"/>
              </a:spcBef>
              <a:defRPr sz="4800" b="1">
                <a:solidFill>
                  <a:srgbClr val="1A1A2E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Qué es AMO-Lean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El Concepto Central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05840"/>
            <a:ext cx="8595360" cy="4572000"/>
          </a:xfrm>
          <a:prstGeom prst="roundRect">
            <a:avLst/>
          </a:prstGeom>
          <a:solidFill>
            <a:srgbClr val="0D1117"/>
          </a:solidFill>
          <a:ln w="25400">
            <a:solidFill>
              <a:srgbClr val="AA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                              AMO-Lean Pipeline</a:t>
            </a:r>
            <a:br/>
            <a:r>
              <a:t>    ╔═══════════════════════════════════════════════════════════════════╗</a:t>
            </a:r>
            <a:br/>
            <a:r>
              <a:t>    ║                                                                   ║</a:t>
            </a:r>
            <a:br/>
            <a:r>
              <a:t>    ║   Especificación       E-Graph              Código C/SIMD         ║</a:t>
            </a:r>
            <a:br/>
            <a:r>
              <a:t>    ║   Matemática      →    Equality        →    Optimizado            ║</a:t>
            </a:r>
            <a:br/>
            <a:r>
              <a:t>    ║   (DSL en Lean)        Saturation           (Correcto por         ║</a:t>
            </a:r>
            <a:br/>
            <a:r>
              <a:t>    ║                        (Reglas               Construcción)        ║</a:t>
            </a:r>
            <a:br/>
            <a:r>
              <a:t>    ║                         Verificadas)                              ║</a:t>
            </a:r>
            <a:br/>
            <a:r>
              <a:t>    ║                                                                   ║</a:t>
            </a:r>
            <a:br/>
            <a:r>
              <a:t>    ╚═══════════════════════════════════════════════════════════════════╝</a:t>
            </a:r>
            <a:br/>
            <a:br/>
            <a:r>
              <a:t>    Similar a:</a:t>
            </a:r>
            <a:br/>
            <a:r>
              <a:t>    • SPIRAL  → DSL para signal processing → C optimizado</a:t>
            </a:r>
            <a:br/>
            <a:r>
              <a:t>    • Halide  → DSL para image processing → C/CUDA optimizado</a:t>
            </a:r>
            <a:br/>
            <a:r>
              <a:t>    • CompCert → C → Assembly verificado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AMO-Lean: Qué ES vs Qué NO 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05840"/>
            <a:ext cx="4114800" cy="54864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931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Optimizador para un DSL específico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Generador de código C/SIMD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Motor de reescritura verificado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Herramienta para primitivas ZK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E-Graph con equality saturation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05840"/>
            <a:ext cx="4114800" cy="548640"/>
          </a:xfrm>
          <a:prstGeom prst="round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NO 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737360"/>
            <a:ext cx="3931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Compilador de Lean arbitrario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Una zkVM completa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Una librería criptográfica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Específico a un solo protocolo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Magia que optimiza todo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86200" y="1371600"/>
            <a:ext cx="1371600" cy="13716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500"/>
              </a:spcBef>
              <a:defRPr sz="4800" b="1">
                <a:solidFill>
                  <a:srgbClr val="1A1A2E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El DSL de AMO-Lean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AA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Tipos del DSL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Expr α — Expresiones escalares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const, var, add, mul, pow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VecExpr α n — Expresiones vectoriales (longitud en el tipo)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var, const, add, smul, concat, split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MatExpr α m n — Expresiones matriciales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identity, compose, tensor (⊗), perm, elemwise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SigmaExpr — IR de loops (Σ-SPL de SPIRAL)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gather, scatter, kernel, loop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Ejemplo: FRI Fold en el DSL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8595360" cy="484632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D4FF"/>
                </a:solidFill>
              </a:defRPr>
            </a:pPr>
            <a:r>
              <a:t>lean →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400">
                <a:solidFill>
                  <a:srgbClr val="00FF88"/>
                </a:solidFill>
                <a:latin typeface="Consolas"/>
              </a:defRPr>
            </a:pPr>
            <a:r>
              <a:t>-- Especificación FRI Fold como VecExpr</a:t>
            </a:r>
            <a:br/>
            <a:r>
              <a:t>def foldSpec (n : Nat) : VecExpr F n :=</a:t>
            </a:r>
            <a:br/>
            <a:r>
              <a:t>  let even  := VecExpr.var 0      -- Vector de entrada (even)</a:t>
            </a:r>
            <a:br/>
            <a:r>
              <a:t>  let odd   := VecExpr.var 1      -- Vector de entrada (odd)</a:t>
            </a:r>
            <a:br/>
            <a:r>
              <a:t>  let alpha := Expr.var 0         -- Escalar (challenge)</a:t>
            </a:r>
            <a:br/>
            <a:br/>
            <a:r>
              <a:t>  -- fold(even, odd, α) = even + α * odd</a:t>
            </a:r>
            <a:br/>
            <a:r>
              <a:t>  VecExpr.add even (VecExpr.smul alpha odd)</a:t>
            </a:r>
            <a:br/>
            <a:br/>
            <a:r>
              <a:t>-- AMO-Lean genera automáticamente:</a:t>
            </a:r>
            <a:br/>
            <a:r>
              <a:t>void fri_fold(const field_t* even, const field_t* odd,</a:t>
            </a:r>
            <a:br/>
            <a:r>
              <a:t>              field_t* out, field_t alpha) {</a:t>
            </a:r>
            <a:br/>
            <a:r>
              <a:t>    for (size_t i = 0; i &lt; n; i++) {</a:t>
            </a:r>
            <a:br/>
            <a:r>
              <a:t>        out[i] = field_add(even[i], field_mul(alpha, odd[i]));</a:t>
            </a:r>
            <a:br/>
            <a:r>
              <a:t>    }</a:t>
            </a:r>
            <a:br/>
            <a:r>
              <a:t>}</a:t>
            </a:r>
            <a:b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MatExpr: FFT/NTT en O(log N) nodos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8595360" cy="484632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D4FF"/>
                </a:solidFill>
              </a:defRPr>
            </a:pPr>
            <a:r>
              <a:t>lean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400">
                <a:solidFill>
                  <a:srgbClr val="00FF88"/>
                </a:solidFill>
                <a:latin typeface="Consolas"/>
              </a:defRPr>
            </a:pPr>
            <a:r>
              <a:t>-- Fórmula de Cooley-Tukey (de SPIRAL):</a:t>
            </a:r>
            <a:br/>
            <a:r>
              <a:t>-- DFT_{mn} = (DFT_m ⊗ I_n) · T^{mn}_n · (I_m ⊗ DFT_n) · L^{mn}_m</a:t>
            </a:r>
            <a:br/>
            <a:br/>
            <a:r>
              <a:t>-- En AMO-Lean:</a:t>
            </a:r>
            <a:br/>
            <a:r>
              <a:t>def ntt_spec (n : Nat) : MatExpr F n n :=</a:t>
            </a:r>
            <a:br/>
            <a:r>
              <a:t>  let dft_half := MatExpr.dft (n/2)</a:t>
            </a:r>
            <a:br/>
            <a:r>
              <a:t>  let twiddle  := MatExpr.twiddle n</a:t>
            </a:r>
            <a:br/>
            <a:r>
              <a:t>  let stride   := MatExpr.stride n 2</a:t>
            </a:r>
            <a:br/>
            <a:br/>
            <a:r>
              <a:t>  MatExpr.compose</a:t>
            </a:r>
            <a:br/>
            <a:r>
              <a:t>    (MatExpr.tensor dft_half (MatExpr.identity 2))</a:t>
            </a:r>
            <a:br/>
            <a:r>
              <a:t>    (MatExpr.compose twiddle</a:t>
            </a:r>
            <a:br/>
            <a:r>
              <a:t>      (MatExpr.compose</a:t>
            </a:r>
            <a:br/>
            <a:r>
              <a:t>        (MatExpr.tensor (MatExpr.identity 2) dft_half)</a:t>
            </a:r>
            <a:br/>
            <a:r>
              <a:t>        stride))</a:t>
            </a:r>
            <a:br/>
            <a:br/>
            <a:r>
              <a:t>-- Representa O(N log N) operaciones con O(log N) nodos AST</a:t>
            </a:r>
            <a:br/>
            <a:r>
              <a:t>-- El E-Graph puede encontrar factorizaciones óptimas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86200" y="1371600"/>
            <a:ext cx="1371600" cy="13716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500"/>
              </a:spcBef>
              <a:defRPr sz="4800" b="1">
                <a:solidFill>
                  <a:srgbClr val="1A1A2E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Pipeline de Optimización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E-Graph + Equality Saturation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E-Graph: estructura que representa MUCHAS expresiones equivalentes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Equality Saturation: aplica TODAS las reglas hasta saturar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Después extrae la expresión de menor costo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Reglas verificadas formalmente (teoremas en Lean):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Identity: x + 0 = x, x * 1 = x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Zero propagation: x * 0 = 0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Power rules: x^0 = 1, x^1 = x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Factorization: a*b + a*c = a*(b+c)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Constant folding: const a + const b = const (a+b)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Resultados de Optimización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874519" cy="2286000"/>
          </a:xfrm>
          <a:prstGeom prst="roundRect">
            <a:avLst/>
          </a:prstGeom>
          <a:solidFill>
            <a:srgbClr val="16213E"/>
          </a:solidFill>
          <a:ln w="381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87451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D4FF"/>
                </a:solidFill>
              </a:defRPr>
            </a:pPr>
            <a:r>
              <a:t>91.67%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AAAAA"/>
                </a:solidFill>
              </a:defRPr>
            </a:pPr>
            <a:r>
              <a:t>Reducción de</a:t>
            </a:r>
            <a:br/>
            <a:r>
              <a:t>Operaciones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1371600"/>
            <a:ext cx="1874519" cy="2286000"/>
          </a:xfrm>
          <a:prstGeom prst="roundRect">
            <a:avLst/>
          </a:prstGeom>
          <a:solidFill>
            <a:srgbClr val="16213E"/>
          </a:solidFill>
          <a:ln w="381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1645920"/>
            <a:ext cx="187451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FF88"/>
                </a:solidFill>
              </a:defRPr>
            </a:pPr>
            <a:r>
              <a:t>12+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74320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AAAAA"/>
                </a:solidFill>
              </a:defRPr>
            </a:pPr>
            <a:r>
              <a:t>Reglas</a:t>
            </a:r>
            <a:br/>
            <a:r>
              <a:t>Verificadas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371600"/>
            <a:ext cx="1874519" cy="2286000"/>
          </a:xfrm>
          <a:prstGeom prst="roundRect">
            <a:avLst/>
          </a:prstGeom>
          <a:solidFill>
            <a:srgbClr val="16213E"/>
          </a:solidFill>
          <a:ln w="381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20"/>
            <a:ext cx="187451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8800"/>
                </a:solidFill>
              </a:defRPr>
            </a:pPr>
            <a: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AAAAA"/>
                </a:solidFill>
              </a:defRPr>
            </a:pPr>
            <a:r>
              <a:t>Sorry en</a:t>
            </a:r>
            <a:br/>
            <a:r>
              <a:t>Teoremas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1371600"/>
            <a:ext cx="1874519" cy="2286000"/>
          </a:xfrm>
          <a:prstGeom prst="roundRect">
            <a:avLst/>
          </a:prstGeom>
          <a:solidFill>
            <a:srgbClr val="16213E"/>
          </a:solidFill>
          <a:ln w="38100">
            <a:solidFill>
              <a:srgbClr val="AA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645920"/>
            <a:ext cx="187451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AA88FF"/>
                </a:solidFill>
              </a:defRPr>
            </a:pPr>
            <a:r>
              <a:t>500/500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74320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AAAAA"/>
                </a:solidFill>
              </a:defRPr>
            </a:pPr>
            <a:r>
              <a:t>Tests de</a:t>
            </a:r>
            <a:br/>
            <a:r>
              <a:t>Equivalencia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86200" y="1371600"/>
            <a:ext cx="1371600" cy="13716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500"/>
              </a:spcBef>
              <a:defRPr sz="4800" b="1">
                <a:solidFill>
                  <a:srgbClr val="1A1A2E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Ejemplos Concretos en ZK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1. FRI Fold (Implementado)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Operación core de FRI (Fast Reed-Solomon IOP)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fold(even, odd, α) = even + α * odd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Implementación escalar: field_goldilocks.h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Implementación AVX2: field_goldilocks_avx2.h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4 elementos en paralelo (256-bit SIMD)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Usado en: Plonky2, Plonky3, STARK provers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2. Poseidon2 Hash (Implementado)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Hash algebraico para ZK (Merkle trees, Fiat-Shamir)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S-Box: x^5 (BN254) o x^7 (Goldilocks)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MDS matrix mixing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Expresado como MatExpr con ElemOp: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round = MDS · elemwise(sbox)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Constantes precomputadas para BN254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Usado en: STARKs, Polygon zkEVM, Scroll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AA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3. NTT/FFT (Parcialmente Implementado)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Number Theoretic Transform para multiplicación de polinomios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Expresable como MatExpr con productos Kronecker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Estado actual: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MatExpr con DFT, twiddles, permutaciones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Sigma-SPL para lowering a loops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CodeGen parcial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Usado en: Todos los provers polinomiales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Evaluación de Polinomios (Expresable)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8595360" cy="484632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D4FF"/>
                </a:solidFill>
              </a:defRPr>
            </a:pPr>
            <a:r>
              <a:t>lean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400">
                <a:solidFill>
                  <a:srgbClr val="00FF88"/>
                </a:solidFill>
                <a:latin typeface="Consolas"/>
              </a:defRPr>
            </a:pPr>
            <a:r>
              <a:t>-- Horner's method: p(x) = a_n*x^n + ... + a_1*x + a_0</a:t>
            </a:r>
            <a:br/>
            <a:r>
              <a:t>--                      = (...((a_n*x + a_{n-1})*x + ...)*x + a_0</a:t>
            </a:r>
            <a:br/>
            <a:br/>
            <a:r>
              <a:t>def horner_spec (coeffs : Vec (Expr F) n) (x : Expr F) : Expr F :=</a:t>
            </a:r>
            <a:br/>
            <a:r>
              <a:t>  coeffs.foldl</a:t>
            </a:r>
            <a:br/>
            <a:r>
              <a:t>    (fun acc c =&gt; Expr.add c (Expr.mul acc x))</a:t>
            </a:r>
            <a:br/>
            <a:r>
              <a:t>    (Expr.const 0)</a:t>
            </a:r>
            <a:br/>
            <a:br/>
            <a:r>
              <a:t>-- El E-Graph puede:</a:t>
            </a:r>
            <a:br/>
            <a:r>
              <a:t>-- 1. Detectar evaluaciones redundantes</a:t>
            </a:r>
            <a:br/>
            <a:r>
              <a:t>-- 2. Factorizar subexpresiones comunes</a:t>
            </a:r>
            <a:br/>
            <a:r>
              <a:t>-- 3. Aplicar optimizaciones específicas del campo</a:t>
            </a:r>
            <a:br/>
            <a:br/>
            <a:r>
              <a:t>-- Usado en: FRI queries, constraint evaluation</a:t>
            </a:r>
            <a:b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86200" y="1371600"/>
            <a:ext cx="1371600" cy="13716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500"/>
              </a:spcBef>
              <a:defRPr sz="4800" b="1">
                <a:solidFill>
                  <a:srgbClr val="1A1A2E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Benchmarks y Eficiencia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Speedups Medidos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874519" cy="2286000"/>
          </a:xfrm>
          <a:prstGeom prst="roundRect">
            <a:avLst/>
          </a:prstGeom>
          <a:solidFill>
            <a:srgbClr val="16213E"/>
          </a:solidFill>
          <a:ln w="381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87451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D4FF"/>
                </a:solidFill>
              </a:defRPr>
            </a:pPr>
            <a:r>
              <a:t>32.3x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AAAAA"/>
                </a:solidFill>
              </a:defRPr>
            </a:pPr>
            <a:r>
              <a:t>Lean → C</a:t>
            </a:r>
            <a:br/>
            <a:r>
              <a:t>(escalar)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1371600"/>
            <a:ext cx="1874519" cy="2286000"/>
          </a:xfrm>
          <a:prstGeom prst="roundRect">
            <a:avLst/>
          </a:prstGeom>
          <a:solidFill>
            <a:srgbClr val="16213E"/>
          </a:solidFill>
          <a:ln w="381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1645920"/>
            <a:ext cx="187451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FF88"/>
                </a:solidFill>
              </a:defRPr>
            </a:pPr>
            <a:r>
              <a:t>4.00x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74320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AAAAA"/>
                </a:solidFill>
              </a:defRPr>
            </a:pPr>
            <a:r>
              <a:t>Scalar → AVX2</a:t>
            </a:r>
            <a:br/>
            <a:r>
              <a:t>(4-way SIMD)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371600"/>
            <a:ext cx="1874519" cy="2286000"/>
          </a:xfrm>
          <a:prstGeom prst="roundRect">
            <a:avLst/>
          </a:prstGeom>
          <a:solidFill>
            <a:srgbClr val="16213E"/>
          </a:solidFill>
          <a:ln w="381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20"/>
            <a:ext cx="187451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8800"/>
                </a:solidFill>
              </a:defRPr>
            </a:pPr>
            <a:r>
              <a:t>~129x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AAAAA"/>
                </a:solidFill>
              </a:defRPr>
            </a:pPr>
            <a:r>
              <a:t>Lean → C AVX2</a:t>
            </a:r>
            <a:br/>
            <a:r>
              <a:t>(combinado)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1371600"/>
            <a:ext cx="1874519" cy="2286000"/>
          </a:xfrm>
          <a:prstGeom prst="roundRect">
            <a:avLst/>
          </a:prstGeom>
          <a:solidFill>
            <a:srgbClr val="16213E"/>
          </a:solidFill>
          <a:ln w="38100">
            <a:solidFill>
              <a:srgbClr val="AA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645920"/>
            <a:ext cx="187451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AA88FF"/>
                </a:solidFill>
              </a:defRPr>
            </a:pPr>
            <a:r>
              <a:t>568M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74320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AAAAA"/>
                </a:solidFill>
              </a:defRPr>
            </a:pPr>
            <a:r>
              <a:t>elem/s</a:t>
            </a:r>
            <a:br/>
            <a:r>
              <a:t>Goldilocks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Benchmarks Detallados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1A1A2E"/>
                          </a:solidFill>
                        </a:defRPr>
                      </a:pPr>
                      <a:r>
                        <a:t>Operación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1A1A2E"/>
                          </a:solidFill>
                        </a:defRPr>
                      </a:pPr>
                      <a:r>
                        <a:t>Sin Optimizar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1A1A2E"/>
                          </a:solidFill>
                        </a:defRPr>
                      </a:pPr>
                      <a:r>
                        <a:t>AMO-Lean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1A1A2E"/>
                          </a:solidFill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FRI Fold (Lean)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28.4 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0.88 ms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32.3x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FRI Fold (Scalar→AVX2)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4.0 ms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1.0 ms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4.0x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Goldilocks Mul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~50 cycles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~12 cycles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4.2x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E-Graph Reduction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24 ops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 ops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12x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Análisis de Eficiencia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AVX2 alcanza 100% del speedup teórico (4x para 4-way)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Comparación con código no optimizado formalmente: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Código naive puede tener branches innecesarios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AMO-Lean elimina dead code automáticamente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Constant folding reduce operaciones en tiempo de compilación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Overhead de campo finito: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Goldilocks vs UInt64: ~5x (aceptable)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Goldilocks vs Barrett: ~2x mejor (reducción especializada)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Comparación: Goldilocks Implementations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1A1A2E"/>
                          </a:solidFill>
                        </a:defRPr>
                      </a:pPr>
                      <a:r>
                        <a:t>Implementación</a:t>
                      </a:r>
                    </a:p>
                  </a:txBody>
                  <a:tcPr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1A1A2E"/>
                          </a:solidFill>
                        </a:defRPr>
                      </a:pPr>
                      <a:r>
                        <a:t>Técnica</a:t>
                      </a:r>
                    </a:p>
                  </a:txBody>
                  <a:tcPr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1A1A2E"/>
                          </a:solidFill>
                        </a:defRPr>
                      </a:pPr>
                      <a:r>
                        <a:t>Rendimiento Relativo</a:t>
                      </a:r>
                    </a:p>
                  </a:txBody>
                  <a:tcPr>
                    <a:solidFill>
                      <a:srgbClr val="00FF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AMO-Lean AVX2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Reducción especializada + SIMD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100% (baseline)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Plonky3 AVX2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Similar (referencia)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~100%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Naive Barrett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Reducción genérica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~50%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Naive sin SIMD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Escalar simple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~25%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86200" y="1371600"/>
            <a:ext cx="1371600" cy="13716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500"/>
              </a:spcBef>
              <a:defRPr sz="4800" b="1">
                <a:solidFill>
                  <a:srgbClr val="1A1A2E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Estado Actual vs Producción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Fases del Proyecto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1A1A2E"/>
                          </a:solidFill>
                        </a:defRPr>
                      </a:pPr>
                      <a:r>
                        <a:t>Fase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1A1A2E"/>
                          </a:solidFill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1A1A2E"/>
                          </a:solidFill>
                        </a:defRPr>
                      </a:pPr>
                      <a:r>
                        <a:t>Estado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1A1A2E"/>
                          </a:solidFill>
                        </a:defRPr>
                      </a:pPr>
                      <a:r>
                        <a:t>Resultado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Proof of Concept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32.3x speedup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Goldilocks Field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568 M elem/s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E-Graph Optimization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91.67% reducción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AVX2 SIMD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4.00x speedup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API Producción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🔄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En progreso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Estado Actual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05840"/>
            <a:ext cx="4114800" cy="54864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931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FRI Fold completo (escalar + AVX2)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E-Graph con 12+ reglas verificadas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Poseidon2 spec + codegen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Campo Goldilocks optimizado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CI con 1000+ tests passing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05840"/>
            <a:ext cx="4114800" cy="548640"/>
          </a:xfrm>
          <a:prstGeom prst="round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FALTA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737360"/>
            <a:ext cx="3931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NTT/FFT codegen completo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Merkle tree optimizado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API de usuario limpia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Más campos (M31, BabyBear)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Documentación de integración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86200" y="1371600"/>
            <a:ext cx="1371600" cy="13716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500"/>
              </a:spcBef>
              <a:defRPr sz="4800" b="1">
                <a:solidFill>
                  <a:srgbClr val="1A1A2E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Escenarios de Uso en zkVMs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Integración con zkVM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AAAA"/>
                </a:solidFill>
              </a:defRPr>
            </a:pPr>
            <a:r>
              <a:t>AMO-Lean genera los kernels de bajo nivel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8595360" cy="4572000"/>
          </a:xfrm>
          <a:prstGeom prst="roundRect">
            <a:avLst/>
          </a:prstGeom>
          <a:solidFill>
            <a:srgbClr val="0D1117"/>
          </a:solidFill>
          <a:ln w="25400">
            <a:solidFill>
              <a:srgbClr val="AA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    ┌─────────────────────────────────────────────────────────────────────┐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    │                         zkVM Pipeline                                │</a:t>
            </a:r>
            <a:br/>
            <a:r>
              <a:t>    ├─────────────────────────────────────────────────────────────────────┤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    │                                                                     │</a:t>
            </a:r>
            <a:br/>
            <a:r>
              <a:t>    │  1. Execution    →  2. AIR           →  3. FRI Prover              │</a:t>
            </a:r>
            <a:br/>
            <a:r>
              <a:t>    │     Trace            Constraints          (commitments)             │</a:t>
            </a:r>
            <a:br/>
            <a:r>
              <a:t>    │     (witness)        (algebraic)                                    │</a:t>
            </a:r>
            <a:br/>
            <a:r>
              <a:t>    │                                                                     │</a:t>
            </a:r>
            <a:br/>
            <a:r>
              <a:t>    │                            ↓                                        │</a:t>
            </a:r>
            <a:br/>
            <a:r>
              <a:t>    │                  ╔═════════════════════╗                            │</a:t>
            </a:r>
            <a:br/>
            <a:r>
              <a:t>    │                  ║     AMO-Lean        ║                            │</a:t>
            </a:r>
            <a:br/>
            <a:r>
              <a:t>    │                  ║  genera código      ║                            │</a:t>
            </a:r>
            <a:br/>
            <a:r>
              <a:t>    │                  ║  optimizado para:   ║                            │</a:t>
            </a:r>
            <a:br/>
            <a:r>
              <a:t>    │                  ║  • FRI fold         ║                            │</a:t>
            </a:r>
            <a:br/>
            <a:r>
              <a:t>    │                  ║  • NTT/iNTT         ║                            │</a:t>
            </a:r>
            <a:br/>
            <a:r>
              <a:t>    │                  ║  • Poseidon2        ║                            │</a:t>
            </a:r>
            <a:br/>
            <a:r>
              <a:t>    │                  ║  • Merkle trees     ║                            │</a:t>
            </a:r>
            <a:br/>
            <a:r>
              <a:t>    │                  ╚═════════════════════╝                            │</a:t>
            </a:r>
            <a:br/>
            <a:r>
              <a:t>    │                            ↓                                        │</a:t>
            </a:r>
            <a:br/>
            <a:r>
              <a:t>    │                  C/AVX2/AVX512 headers                              │</a:t>
            </a:r>
            <a:br/>
            <a:r>
              <a:t>    │                                                                     │</a:t>
            </a:r>
            <a:br/>
            <a:r>
              <a:t>    └─────────────────────────────────────────────────────────────────────┘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Caso de Uso 1: Prover Acelerado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Problema: Provers ZK son lentos (minutos para programas grandes)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Bottlenecks: NTT, hashing, FRI queries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Solución con AMO-Lean: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Especificar operaciones en DSL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Generar kernels AVX2/AVX512 optimizados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Integrar como headers .h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Beneficio: Speedup garantizado + corrección formal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Caso de Uso 2: Multi-Campo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Problema: Diferentes zkVMs usan diferentes campos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Plonky2/3: Goldilocks (2^64 - 2^32 + 1)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Polygon zkEVM: Goldilocks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Scroll: BN254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Risc0: M31 (Mersenne)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Solución con AMO-Lean: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Misma especificación, diferentes campos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#define FIELD_GOLDILOCKS / FIELD_BN254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Código optimizado automáticamente para cada campo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Caso de Uso 3: Hardware Heterogéneo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Problema: Diferentes CPUs tienen diferentes capacidades SIMD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Intel Skylake: AVX2 (256-bit)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Intel Ice Lake: AVX-512 (512-bit)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AMD Zen4: AVX-512 + mejorado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ARM: NEON / SVE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Solución (futuro) con AMO-Lean: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Backend configurable por target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Misma spec → diferentes implementaciones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Runtime detection posible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Ejemplo: Integración en Prover 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8595360" cy="484632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D4FF"/>
                </a:solidFill>
              </a:defRPr>
            </a:pPr>
            <a: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400">
                <a:solidFill>
                  <a:srgbClr val="00FF88"/>
                </a:solidFill>
                <a:latin typeface="Consolas"/>
              </a:defRPr>
            </a:pPr>
            <a:r>
              <a:t>// Archivo generado por AMO-Lean</a:t>
            </a:r>
            <a:br/>
            <a:r>
              <a:t>#include "fri_fold_goldilocks_avx2.h"</a:t>
            </a:r>
            <a:br/>
            <a:r>
              <a:t>#include "ntt_goldilocks_avx2.h"</a:t>
            </a:r>
            <a:br/>
            <a:r>
              <a:t>#include "poseidon2_goldilocks_avx2.h"</a:t>
            </a:r>
            <a:br/>
            <a:br/>
            <a:r>
              <a:t>void prove_layer(ProverState* state) {</a:t>
            </a:r>
            <a:br/>
            <a:r>
              <a:t>    // Operaciones optimizadas por AMO-Lean</a:t>
            </a:r>
            <a:br/>
            <a:br/>
            <a:r>
              <a:t>    // 1. NTT forward</a:t>
            </a:r>
            <a:br/>
            <a:r>
              <a:t>    ntt_forward_avx2(state-&gt;evaluations, state-&gt;n);</a:t>
            </a:r>
            <a:br/>
            <a:br/>
            <a:r>
              <a:t>    // 2. Merkle commit con Poseidon2</a:t>
            </a:r>
            <a:br/>
            <a:r>
              <a:t>    poseidon2_merkle_avx2(state-&gt;tree, state-&gt;evaluations, state-&gt;n);</a:t>
            </a:r>
            <a:br/>
            <a:br/>
            <a:r>
              <a:t>    // 3. FRI fold</a:t>
            </a:r>
            <a:br/>
            <a:r>
              <a:t>    fri_fold_avx2(state-&gt;folded,</a:t>
            </a:r>
            <a:br/>
            <a:r>
              <a:t>                  state-&gt;even, state-&gt;odd,</a:t>
            </a:r>
            <a:br/>
            <a:r>
              <a:t>                  state-&gt;alpha, state-&gt;n / 2);</a:t>
            </a:r>
            <a:br/>
            <a:r>
              <a:t>}</a:t>
            </a:r>
            <a:b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86200" y="1371600"/>
            <a:ext cx="1371600" cy="13716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500"/>
              </a:spcBef>
              <a:defRPr sz="4800" b="1">
                <a:solidFill>
                  <a:srgbClr val="1A1A2E"/>
                </a:solidFill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Phase 4: API de Producción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Función compileToC(spec, config) limpia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Documentación completa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Completar NTT/FFT CodeGen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Radix-2 y Radix-4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Optimización de twiddle factors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Más campos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M31 (Mersenne 2^31 - 1)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BabyBear (2^31 - 2^27 + 1)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AVX-512 backend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API Ideal (Objetivo)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8595360" cy="484632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D4FF"/>
                </a:solidFill>
              </a:defRPr>
            </a:pPr>
            <a:r>
              <a:t>lean (futuro)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1400">
                <a:solidFill>
                  <a:srgbClr val="00FF88"/>
                </a:solidFill>
                <a:latin typeface="Consolas"/>
              </a:defRPr>
            </a:pPr>
            <a:r>
              <a:t>-- Usuario escribe especificación de alto nivel:</a:t>
            </a:r>
            <a:br/>
            <a:r>
              <a:t>def my_prover_kernel : ProverSpec := {</a:t>
            </a:r>
            <a:br/>
            <a:r>
              <a:t>  field := Goldilocks,</a:t>
            </a:r>
            <a:br/>
            <a:r>
              <a:t>  operations := [</a:t>
            </a:r>
            <a:br/>
            <a:r>
              <a:t>    .fri_fold { layers := 10 },</a:t>
            </a:r>
            <a:br/>
            <a:r>
              <a:t>    .ntt { size := 2^20, radix := 4 },</a:t>
            </a:r>
            <a:br/>
            <a:r>
              <a:t>    .poseidon2 { width := 3 }</a:t>
            </a:r>
            <a:br/>
            <a:r>
              <a:t>  ],</a:t>
            </a:r>
            <a:br/>
            <a:r>
              <a:t>  target := .AVX2</a:t>
            </a:r>
            <a:br/>
            <a:r>
              <a:t>}</a:t>
            </a:r>
            <a:br/>
            <a:br/>
            <a:r>
              <a:t>-- Un comando genera todo:</a:t>
            </a:r>
            <a:br/>
            <a:r>
              <a:t>#generate my_prover_kernel "output/my_prover.h"</a:t>
            </a:r>
            <a:br/>
            <a:br/>
            <a:r>
              <a:t>-- Resultado: headers .h listos para integrar</a:t>
            </a:r>
            <a:br/>
            <a:r>
              <a:t>-- Con garantía de corrección formal</a:t>
            </a:r>
            <a:b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Resumen: Lo que Logramos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874519" cy="2286000"/>
          </a:xfrm>
          <a:prstGeom prst="roundRect">
            <a:avLst/>
          </a:prstGeom>
          <a:solidFill>
            <a:srgbClr val="16213E"/>
          </a:solidFill>
          <a:ln w="381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87451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D4FF"/>
                </a:solidFill>
              </a:defRPr>
            </a:pPr>
            <a:r>
              <a:t>~129x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AAAAA"/>
                </a:solidFill>
              </a:defRPr>
            </a:pPr>
            <a:r>
              <a:t>Speedup</a:t>
            </a:r>
            <a:br/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1371600"/>
            <a:ext cx="1874519" cy="2286000"/>
          </a:xfrm>
          <a:prstGeom prst="roundRect">
            <a:avLst/>
          </a:prstGeom>
          <a:solidFill>
            <a:srgbClr val="16213E"/>
          </a:solidFill>
          <a:ln w="381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1645920"/>
            <a:ext cx="187451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FF88"/>
                </a:solidFill>
              </a:defRPr>
            </a:pPr>
            <a:r>
              <a:t>1061+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74320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AAAAA"/>
                </a:solidFill>
              </a:defRPr>
            </a:pPr>
            <a:r>
              <a:t>Tests</a:t>
            </a:r>
            <a:br/>
            <a:r>
              <a:t>Passing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371600"/>
            <a:ext cx="1874519" cy="2286000"/>
          </a:xfrm>
          <a:prstGeom prst="roundRect">
            <a:avLst/>
          </a:prstGeom>
          <a:solidFill>
            <a:srgbClr val="16213E"/>
          </a:solidFill>
          <a:ln w="381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20"/>
            <a:ext cx="187451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8800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AAAAA"/>
                </a:solidFill>
              </a:defRPr>
            </a:pPr>
            <a:r>
              <a:t>Fases</a:t>
            </a:r>
            <a:br/>
            <a:r>
              <a:t>Completas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1371600"/>
            <a:ext cx="1874519" cy="2286000"/>
          </a:xfrm>
          <a:prstGeom prst="roundRect">
            <a:avLst/>
          </a:prstGeom>
          <a:solidFill>
            <a:srgbClr val="16213E"/>
          </a:solidFill>
          <a:ln w="38100">
            <a:solidFill>
              <a:srgbClr val="AA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645920"/>
            <a:ext cx="187451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AA88FF"/>
                </a:solidFill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74320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AAAAAA"/>
                </a:solidFill>
              </a:defRPr>
            </a:pPr>
            <a:r>
              <a:t>Sorry</a:t>
            </a:r>
            <a:br/>
            <a:r>
              <a:t>en Teoremas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AMO-Lean es un compilador de optimización formal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NO código Lean arbitrario → DSL específico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Genera código C/SIMD con garantías de corrección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Reglas de reescritura con teoremas formales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E-Graph encuentra optimizaciones automáticamente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Aplicable a primitivas ZK: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FRI fold, NTT, Poseidon2, evaluación de polinomios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FFFFFF"/>
                </a:solidFill>
              </a:defRPr>
            </a:pPr>
            <a:r>
              <a:t>Estado: 4/5 fases completas, falta API de producción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¿Preguntas?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D4FF"/>
                </a:solidFill>
              </a:defRPr>
            </a:pPr>
            <a:r>
              <a:t>github.com/manuelpuebla/amo-lean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