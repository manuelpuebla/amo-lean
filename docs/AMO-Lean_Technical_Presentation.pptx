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AMO-Lean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2E86AB"/>
                </a:solidFill>
              </a:defRPr>
            </a:pPr>
            <a:r>
              <a:t>Automatic Mathematical Optimizer for Lean 4</a:t>
            </a:r>
            <a:br/>
            <a:r>
              <a:t>Compilador Verificado para Protocolos Criptograficos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Que es AMO-Lean?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Compilador optimizador que transforma especificaciones matematicas de alto nivel en codigo C eficiente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Garantias formales de correccion usando Lean 4 y Mathlib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Caso de estudio: Protocolo FRI (Fast Reed-Solomon IOP of Proximity)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Componente critico en sistemas ZK-STARK (Ethereum, StarkNet)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Metodologia: Verificacion Empirica Transitiva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Teoremas formales sobre implementacion de referencia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Fuzzing diferencial para validar codigo C generado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Por que Compilacion Verificada?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Protocolos criptograficos son criticos para seguridad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Errores silenciosos pueden invalidar proofs sin detectarse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Testing tradicional es insuficiente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Optimizacion manual introduce bugs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SIMD, memory layout, loop transformations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Requerimiento: Correccion demostrable, no solo testeable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AMO-Lean: Verificacion formal + Fuzzing diferencial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Defense in depth contra errores sutiles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Arquitectura: Pipeline de Compilacion Verificada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371600"/>
            <a:ext cx="9144000" cy="731520"/>
          </a:xfrm>
          <a:prstGeom prst="roundRect">
            <a:avLst/>
          </a:prstGeom>
          <a:solidFill>
            <a:srgbClr val="F27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4630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Level 6: FRI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3736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RoundState, CryptoSigma, Merkle, Fiat-Shamir</a:t>
            </a:r>
          </a:p>
        </p:txBody>
      </p:sp>
      <p:sp>
        <p:nvSpPr>
          <p:cNvPr id="7" name="Down Arrow 6"/>
          <p:cNvSpPr/>
          <p:nvPr/>
        </p:nvSpPr>
        <p:spPr>
          <a:xfrm>
            <a:off x="5760720" y="2103120"/>
            <a:ext cx="365760" cy="13716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2240280"/>
            <a:ext cx="9144000" cy="7315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23317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Level 5: Vectorial 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60604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MatExpr (Kronecker), VecExpr, SIMD CodeGen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760720" y="2971800"/>
            <a:ext cx="365760" cy="13716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71600" y="3108960"/>
            <a:ext cx="9144000" cy="7315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2004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Level 4: Finite Fields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747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ZMod integration, Power expressions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760720" y="3840480"/>
            <a:ext cx="365760" cy="13716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371600" y="3977640"/>
            <a:ext cx="9144000" cy="7315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40690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Level 3: E-Graph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34340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Equality Saturation, E-matching, Union-Find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760720" y="4709160"/>
            <a:ext cx="365760" cy="13716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371600" y="4846320"/>
            <a:ext cx="9144000" cy="7315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49377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Level 2: Rewriting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2120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Algebraic rules, Bottom-up, Fixpoint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760720" y="5577840"/>
            <a:ext cx="365760" cy="13716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371600" y="5715000"/>
            <a:ext cx="9144000" cy="7315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8064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Level 1: CodeGen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608076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Expr -&gt; C, Proof Anchors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27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365D"/>
                </a:solidFill>
              </a:defRPr>
            </a:pPr>
            <a:r>
              <a:t>Decisiones de Diseno Clave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Decision 1: E-Graph con Equality Saturation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Problema: Reescritura greedy no explora alternativas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Asociatividad causa 70x slowdown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Sin backtracking, optimos locales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Solucion: E-graph (egg paper, POPL 2021)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Union-Find con path compression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E-matching para busqueda de patrones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Extraccion con cost model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Implementacion en Lean 4: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Estructuras planas (Array + HashMap)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Rebuild para re-canonicalizacion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~1000 lineas de codigo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urier New"/>
              </a:defRPr>
            </a:pPr>
            <a:r>
              <a:t>-- E-Graph en Lean 4</a:t>
            </a:r>
            <a:br/>
            <a:r>
              <a:t>structure EGraph where</a:t>
            </a:r>
            <a:br/>
            <a:r>
              <a:t>  unionFind : Array EClassId</a:t>
            </a:r>
            <a:br/>
            <a:r>
              <a:t>  hashcons  : HashMap ENode EClassId</a:t>
            </a:r>
            <a:br/>
            <a:r>
              <a:t>  classes   : Array EClass</a:t>
            </a:r>
            <a:br/>
            <a:r>
              <a:t>  worklist  : Array EClassId</a:t>
            </a:r>
            <a:br/>
            <a:br/>
            <a:r>
              <a:t>-- Saturacion</a:t>
            </a:r>
            <a:br/>
            <a:r>
              <a:t>def saturate (eg : EGraph)</a:t>
            </a:r>
            <a:br/>
            <a:r>
              <a:t>    (rules : List Rule) : EGraph :=</a:t>
            </a:r>
            <a:br/>
            <a:r>
              <a:t>  let rec go eg fuel :=</a:t>
            </a:r>
            <a:br/>
            <a:r>
              <a:t>    if fuel == 0 then eg</a:t>
            </a:r>
            <a:br/>
            <a:r>
              <a:t>    else</a:t>
            </a:r>
            <a:br/>
            <a:r>
              <a:t>      let eg' := saturateStep eg rules</a:t>
            </a:r>
            <a:br/>
            <a:r>
              <a:t>      if eg'.stats == eg.stats</a:t>
            </a:r>
            <a:br/>
            <a:r>
              <a:t>      then eg</a:t>
            </a:r>
            <a:br/>
            <a:r>
              <a:t>      else go eg' (fuel - 1)</a:t>
            </a:r>
            <a:br/>
            <a:r>
              <a:t>  go eg maxIterations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Decision 2: Productos Kronecker vs Expansion Escalar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548640"/>
          </a:xfrm>
          <a:prstGeom prst="roundRect">
            <a:avLst/>
          </a:prstGeom>
          <a:solidFill>
            <a:srgbClr val="C93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Expansion Escalar (Naive)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3035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• FFT de N elementos = N operaciones</a:t>
            </a:r>
          </a:p>
          <a:p>
            <a:pPr>
              <a:spcAft>
                <a:spcPts val="800"/>
              </a:spcAft>
              <a:defRPr sz="1600"/>
            </a:pPr>
            <a:r>
              <a:t>• DFT_1M = ~1,000,000 nodos en AST</a:t>
            </a:r>
          </a:p>
          <a:p>
            <a:pPr>
              <a:spcAft>
                <a:spcPts val="800"/>
              </a:spcAft>
              <a:defRPr sz="1600"/>
            </a:pPr>
            <a:r>
              <a:t>• E-graph colapsa por memoria</a:t>
            </a:r>
          </a:p>
          <a:p>
            <a:pPr>
              <a:spcAft>
                <a:spcPts val="800"/>
              </a:spcAft>
              <a:defRPr sz="1600"/>
            </a:pPr>
            <a:r>
              <a:t>• Tiempo de compilacion: infinito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Ejemplo DFT_8:</a:t>
            </a:r>
          </a:p>
          <a:p>
            <a:pPr>
              <a:spcAft>
                <a:spcPts val="800"/>
              </a:spcAft>
              <a:defRPr sz="1600"/>
            </a:pPr>
            <a:r>
              <a:t>  64 nodos escalares</a:t>
            </a:r>
          </a:p>
          <a:p>
            <a:pPr>
              <a:spcAft>
                <a:spcPts val="800"/>
              </a:spcAft>
              <a:defRPr sz="1600"/>
            </a:pPr>
            <a:r>
              <a:t>  Cada operacion explicita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54864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Productos Kronecker (SPIRAL)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103120"/>
            <a:ext cx="53035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• FFT = formula algebraica compacta</a:t>
            </a:r>
          </a:p>
          <a:p>
            <a:pPr>
              <a:spcAft>
                <a:spcPts val="800"/>
              </a:spcAft>
              <a:defRPr sz="1600"/>
            </a:pPr>
            <a:r>
              <a:t>• DFT_1M = ~41 nodos (!)</a:t>
            </a:r>
          </a:p>
          <a:p>
            <a:pPr>
              <a:spcAft>
                <a:spcPts val="800"/>
              </a:spcAft>
              <a:defRPr sz="1600"/>
            </a:pPr>
            <a:r>
              <a:t>• Reduccion: 10^10x</a:t>
            </a:r>
          </a:p>
          <a:p>
            <a:pPr>
              <a:spcAft>
                <a:spcPts val="800"/>
              </a:spcAft>
              <a:defRPr sz="1600"/>
            </a:pPr>
            <a:r>
              <a:t>• Tiempo de compilacion: segundos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Ejemplo DFT_8:</a:t>
            </a:r>
          </a:p>
          <a:p>
            <a:pPr>
              <a:spcAft>
                <a:spcPts val="800"/>
              </a:spcAft>
              <a:defRPr sz="1600"/>
            </a:pPr>
            <a:r>
              <a:t>  11 nodos Kronecker</a:t>
            </a:r>
          </a:p>
          <a:p>
            <a:pPr>
              <a:spcAft>
                <a:spcPts val="800"/>
              </a:spcAft>
              <a:defRPr sz="1600"/>
            </a:pPr>
            <a:r>
              <a:t>  DFT_8 = (DFT_2 ⊗ I_4) · T · (I_2 ⊗ DFT_4) · 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Decision 3: CryptoSigma IR con Barreras Intrinsecas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Problema: Optimizaciones pueden reordenar operaciones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En criptografia, el orden es semanticamente critico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Fiat-Shamir: commit ANTES de squeeze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Solucion: IR intermedio con barreras explicitas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absorb, squeeze, merkleHash como intrinsics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BARRIER markers que prohiben reordenamiento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domainEnter/Exit para contexto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Generacion de codigo: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Proof Anchors: comentarios estructurados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Mapean directamente a teoremas en Lean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urier New"/>
              </a:defRPr>
            </a:pPr>
            <a:r>
              <a:t>-- CryptoSigma IR</a:t>
            </a:r>
            <a:br/>
            <a:r>
              <a:t>inductive Intrinsic where</a:t>
            </a:r>
            <a:br/>
            <a:r>
              <a:t>  | absorb : Nat -&gt; Intrinsic</a:t>
            </a:r>
            <a:br/>
            <a:r>
              <a:t>  | squeeze : Intrinsic</a:t>
            </a:r>
            <a:br/>
            <a:r>
              <a:t>  | merkleHash : Intrinsic</a:t>
            </a:r>
            <a:br/>
            <a:r>
              <a:t>  | domainEnter : Domain -&gt; Intrinsic</a:t>
            </a:r>
            <a:br/>
            <a:r>
              <a:t>  | domainExit : Intrinsic</a:t>
            </a:r>
            <a:br/>
            <a:br/>
            <a:r>
              <a:t>-- Generacion C con Proof Anchor</a:t>
            </a:r>
            <a:br/>
            <a:r>
              <a:t>// PROOF_ANCHOR: fri_fold</a:t>
            </a:r>
            <a:br/>
            <a:r>
              <a:t>// Preconditions:</a:t>
            </a:r>
            <a:br/>
            <a:r>
              <a:t>//   - n &gt; 0</a:t>
            </a:r>
            <a:br/>
            <a:r>
              <a:t>//   - input has 2*n elements</a:t>
            </a:r>
            <a:br/>
            <a:r>
              <a:t>// Postconditions:</a:t>
            </a:r>
            <a:br/>
            <a:r>
              <a:t>//   - output[i] == input[2*i]</a:t>
            </a:r>
            <a:br/>
            <a:r>
              <a:t>//          + alpha * input[2*i+1]</a:t>
            </a:r>
            <a:br/>
            <a:r>
              <a:t>// BARRIER: No code motion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27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365D"/>
                </a:solidFill>
              </a:defRPr>
            </a:pPr>
            <a:r>
              <a:t>Tres Problemas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Problema 1: La Trampa Escalar (Nivel Simbolico)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Contexto: FFT opera sobre vectores de N elementos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Tipicamente N = 2^20 = 1,048,576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Riesgo: AST escalar genera millones de nodos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E-graph colapsa por consumo de memoria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Out of Memory antes de compilar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Solucion: Representacion Kronecker (SPIRAL paper)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O(log N) nodos en lugar de O(N)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Reglas algebraicas a nivel matricial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Lowering a loops + kernels pequenos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Impacto: DFT_2^20 viable con 41 nodos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urier New"/>
              </a:defRPr>
            </a:pPr>
            <a:r>
              <a:t>-- Representacion compacta</a:t>
            </a:r>
            <a:br/>
            <a:r>
              <a:t>def fftCooleyTukey (m n : Nat) :=</a:t>
            </a:r>
            <a:br/>
            <a:r>
              <a:t>  MatExpr.compose</a:t>
            </a:r>
            <a:br/>
            <a:r>
              <a:t>    (MatExpr.kron (dft m) (identity n))</a:t>
            </a:r>
            <a:br/>
            <a:r>
              <a:t>    (MatExpr.compose</a:t>
            </a:r>
            <a:br/>
            <a:r>
              <a:t>      (MatExpr.twiddle (m*n) n)</a:t>
            </a:r>
            <a:br/>
            <a:r>
              <a:t>      (MatExpr.compose</a:t>
            </a:r>
            <a:br/>
            <a:r>
              <a:t>        (MatExpr.kron (identity m) (dft n))</a:t>
            </a:r>
            <a:br/>
            <a:r>
              <a:t>        (MatExpr.perm (Perm.stride m n))))</a:t>
            </a:r>
            <a:br/>
            <a:br/>
            <a:r>
              <a:t>-- Conteo de nodos:</a:t>
            </a:r>
            <a:br/>
            <a:r>
              <a:t>-- DFT_8:     11 nodos (vs 64 escalar)</a:t>
            </a:r>
            <a:br/>
            <a:r>
              <a:t>-- DFT_1024:  21 nodos (vs 1M escalar)</a:t>
            </a:r>
            <a:br/>
            <a:r>
              <a:t>-- DFT_2^20:  41 nodos (vs 10^12 escalar)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Problema 2: Explosion del E-Graph (Nivel Implementacion)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Contexto: Reglas de conmutatividad y asociatividad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a + b = b + a (necesaria para optimizacion)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(a + b) + c = a + (b + c)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Riesgo: Aplicacion ilimitada genera explosion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E-graph crece exponencialmente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Saturacion nunca termina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Solucion: Configuracion con limites estrictos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maxIterations: 50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maxNodes: 5000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maxClasses: 1000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Leccion: Las reglas mas 'obvias' son las mas peligrosas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urier New"/>
              </a:defRPr>
            </a:pPr>
            <a:r>
              <a:t>-- Configuracion segura</a:t>
            </a:r>
            <a:br/>
            <a:r>
              <a:t>structure SaturationConfig where</a:t>
            </a:r>
            <a:br/>
            <a:r>
              <a:t>  maxIterations : Nat := 50</a:t>
            </a:r>
            <a:br/>
            <a:r>
              <a:t>  maxNodes      : Nat := 5000</a:t>
            </a:r>
            <a:br/>
            <a:r>
              <a:t>  maxClasses    : Nat := 1000</a:t>
            </a:r>
            <a:br/>
            <a:br/>
            <a:r>
              <a:t>-- Reglas controladas</a:t>
            </a:r>
            <a:br/>
            <a:r>
              <a:t>def basicRules : List Rule := [</a:t>
            </a:r>
            <a:br/>
            <a:r>
              <a:t>  rule_add_zero,    -- a + 0 = a</a:t>
            </a:r>
            <a:br/>
            <a:r>
              <a:t>  rule_mul_one,     -- a * 1 = a</a:t>
            </a:r>
            <a:br/>
            <a:r>
              <a:t>  rule_mul_zero,    -- a * 0 = 0</a:t>
            </a:r>
            <a:br/>
            <a:r>
              <a:t>]</a:t>
            </a:r>
            <a:br/>
            <a:br/>
            <a:r>
              <a:t>-- Reglas peligrosas (usar con cuidado)</a:t>
            </a:r>
            <a:br/>
            <a:r>
              <a:t>def commRules : List Rule := [</a:t>
            </a:r>
            <a:br/>
            <a:r>
              <a:t>  rule_add_comm,    -- a + b = b + a</a:t>
            </a:r>
            <a:br/>
            <a:r>
              <a:t>  rule_mul_comm,    -- a * b = b * a</a:t>
            </a:r>
            <a:br/>
            <a:r>
              <a:t>]</a:t>
            </a:r>
            <a:br/>
            <a:r>
              <a:t>-- ADVERTENCIA: Solo con limites bajos!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C93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Problema 3: Buffer Swap Bug (Nivel Practico)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El codigo C compilaba sin errores</a:t>
            </a:r>
          </a:p>
          <a:p>
            <a:pPr>
              <a:spcAft>
                <a:spcPts val="800"/>
              </a:spcAft>
              <a:defRPr sz="1800"/>
            </a:pPr>
            <a:r>
              <a:t>• No habia crashes ni excepciones</a:t>
            </a:r>
          </a:p>
          <a:p>
            <a:pPr>
              <a:spcAft>
                <a:spcPts val="800"/>
              </a:spcAft>
              <a:defRPr sz="1800"/>
            </a:pPr>
            <a:r>
              <a:t>• Commitments y challenges: CORRECTOS</a:t>
            </a:r>
          </a:p>
          <a:p>
            <a:pPr>
              <a:spcAft>
                <a:spcPts val="800"/>
              </a:spcAft>
              <a:defRPr sz="1800"/>
            </a:pPr>
            <a:r>
              <a:t>• Polinomio final: INCORRECTO</a:t>
            </a:r>
          </a:p>
          <a:p>
            <a:pPr>
              <a:spcAft>
                <a:spcPts val="800"/>
              </a:spcAft>
              <a:defRPr sz="1800"/>
            </a:pPr>
            <a:r>
              <a:t>• Resultado: Proofs invalidos que parecen validos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657600"/>
            <a:ext cx="5303520" cy="2743200"/>
          </a:xfrm>
          <a:prstGeom prst="roundRect">
            <a:avLst/>
          </a:prstGeom>
          <a:solidFill>
            <a:srgbClr val="4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493776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9999"/>
                </a:solidFill>
                <a:latin typeface="Courier New"/>
              </a:defRPr>
            </a:pPr>
            <a:r>
              <a:t>// CODIGO CON BUG:</a:t>
            </a:r>
            <a:br/>
            <a:r>
              <a:t>if (round + 1 &lt; num_rounds) {</a:t>
            </a:r>
            <a:br/>
            <a:r>
              <a:t>    // Solo swap si NO es</a:t>
            </a:r>
            <a:br/>
            <a:r>
              <a:t>    // el ultimo round</a:t>
            </a:r>
            <a:br/>
            <a:r>
              <a:t>    swap(current, next);</a:t>
            </a:r>
            <a:br/>
            <a:r>
              <a:t>}</a:t>
            </a:r>
            <a:br/>
            <a:r>
              <a:t>// Resultado: current apunta</a:t>
            </a:r>
            <a:br/>
            <a:r>
              <a:t>// a datos VIEJOS en round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303520" cy="2743200"/>
          </a:xfrm>
          <a:prstGeom prst="round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840480"/>
            <a:ext cx="493776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9FF99"/>
                </a:solidFill>
                <a:latin typeface="Courier New"/>
              </a:defRPr>
            </a:pPr>
            <a:r>
              <a:t>// CODIGO CORREGIDO:</a:t>
            </a:r>
            <a:br/>
            <a:r>
              <a:t>// SIEMPRE swap despues</a:t>
            </a:r>
            <a:br/>
            <a:r>
              <a:t>// de cada round</a:t>
            </a:r>
            <a:br/>
            <a:r>
              <a:t>swap(current, next);</a:t>
            </a:r>
            <a:br/>
            <a:br/>
            <a:r>
              <a:t>// Resultado: current siempre</a:t>
            </a:r>
            <a:br/>
            <a:r>
              <a:t>// apunta a datos FRESCOS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A365D"/>
                </a:solidFill>
              </a:defRPr>
            </a:pPr>
            <a:r>
              <a:t>Causa Raiz: Impedance Mismatch</a:t>
            </a:r>
          </a:p>
          <a:p>
            <a:pPr>
              <a:spcBef>
                <a:spcPts val="1200"/>
              </a:spcBef>
              <a:defRPr sz="1600"/>
            </a:pPr>
            <a:r>
              <a:t>Funcional (Lean): fold(fold(fold(x)))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Estado fluye naturalmente</a:t>
            </a:r>
          </a:p>
          <a:p>
            <a:pPr>
              <a:spcBef>
                <a:spcPts val="800"/>
              </a:spcBef>
              <a:defRPr sz="1600"/>
            </a:pPr>
            <a:r>
              <a:t>Imperativo (C): for(i){swap(p1,p2)}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Estado es puntero mutable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Estrategia de Verificacion: Transitividad Empirica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Nivel 1: Teoremas formales sobre referencia Lean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friFold_spec: especificacion del fold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round_ordering_secure: Fiat-Shamir order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domain_size_after_rounds: reduccion 2^k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Nivel 2: Fuzzing diferencial Lean vs C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107 test cases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Comparacion bit-a-bit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Genera inputs aleatorios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Transitividad: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Lean reference satisface propiedades (probado)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C == Lean (verificado empiricamente)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Por lo tanto: C satisface propiedades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0E0E0"/>
                </a:solidFill>
                <a:latin typeface="Courier New"/>
              </a:defRPr>
            </a:pPr>
            <a:r>
              <a:t>-- Teorema formal (Lean)</a:t>
            </a:r>
            <a:br/>
            <a:r>
              <a:t>theorem round_ordering_secure</a:t>
            </a:r>
            <a:br/>
            <a:r>
              <a:t>    (poly : Array UInt64)</a:t>
            </a:r>
            <a:br/>
            <a:r>
              <a:t>    (ts : TranscriptState) :</a:t>
            </a:r>
            <a:br/>
            <a:r>
              <a:t>  let result := executeRound poly ts</a:t>
            </a:r>
            <a:br/>
            <a:r>
              <a:t>  result.finalTranscript.absorbCount</a:t>
            </a:r>
            <a:br/>
            <a:r>
              <a:t>    &gt; ts.absorbCount ∧</a:t>
            </a:r>
            <a:br/>
            <a:r>
              <a:t>  result.finalTranscript.squeezeCount</a:t>
            </a:r>
            <a:br/>
            <a:r>
              <a:t>    &gt; ts.squeezeCount := by</a:t>
            </a:r>
            <a:br/>
            <a:r>
              <a:t>  simp [executeRound,</a:t>
            </a:r>
            <a:br/>
            <a:r>
              <a:t>        TranscriptState.absorb,</a:t>
            </a:r>
            <a:br/>
            <a:r>
              <a:t>        TranscriptState.squeeze]</a:t>
            </a:r>
            <a:br/>
            <a:r>
              <a:t>  omega</a:t>
            </a:r>
            <a:br/>
            <a:br/>
            <a:r>
              <a:t>-- Test diferencial (Lean vs C)</a:t>
            </a:r>
            <a:br/>
            <a:r>
              <a:t>#eval runDifferentialTest</a:t>
            </a:r>
            <a:br/>
            <a:r>
              <a:t>-- Commitments: ✓ MATCH</a:t>
            </a:r>
            <a:br/>
            <a:r>
              <a:t>-- Challenges:  ✓ MATCH</a:t>
            </a:r>
            <a:br/>
            <a:r>
              <a:t>-- Final poly:  ✓ MATCH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Resultados y Metricas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201168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~12,000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Lineas de Lean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463040"/>
            <a:ext cx="201168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5544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28600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Modulos compilados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1463040"/>
            <a:ext cx="201168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15544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28600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Tests diferenciales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0" y="1463040"/>
            <a:ext cx="201168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15544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28600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Bugs criticos encontrados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84080" y="1463040"/>
            <a:ext cx="201168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15544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228600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Tests pasando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365D"/>
                </a:solidFill>
              </a:defRPr>
            </a:pPr>
            <a:r>
              <a:t>Garantias de Seguridad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5486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D6A4F"/>
                </a:solidFill>
              </a:defRPr>
            </a:pPr>
            <a:r>
              <a:t>✓ Preservacion semantica (verificado por fuzzing)</a:t>
            </a:r>
          </a:p>
          <a:p>
            <a:pPr>
              <a:spcAft>
                <a:spcPts val="800"/>
              </a:spcAft>
              <a:defRPr sz="1600">
                <a:solidFill>
                  <a:srgbClr val="2D6A4F"/>
                </a:solidFill>
              </a:defRPr>
            </a:pPr>
            <a:r>
              <a:t>✓ Seguridad Fiat-Shamir (probado formalmente)</a:t>
            </a:r>
          </a:p>
          <a:p>
            <a:pPr>
              <a:spcAft>
                <a:spcPts val="800"/>
              </a:spcAft>
              <a:defRPr sz="1600">
                <a:solidFill>
                  <a:srgbClr val="2D6A4F"/>
                </a:solidFill>
              </a:defRPr>
            </a:pPr>
            <a:r>
              <a:t>✓ Reduccion de dominio correcta (probado)</a:t>
            </a:r>
          </a:p>
          <a:p>
            <a:pPr>
              <a:spcAft>
                <a:spcPts val="800"/>
              </a:spcAft>
              <a:defRPr sz="1600">
                <a:solidFill>
                  <a:srgbClr val="2D6A4F"/>
                </a:solidFill>
              </a:defRPr>
            </a:pPr>
            <a:r>
              <a:t>✓ Ordenamiento de operaciones (Commit-&gt;Absorb-&gt;Squeeze-&gt;Fold)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1089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365D"/>
                </a:solidFill>
              </a:defRPr>
            </a:pPr>
            <a:r>
              <a:t>Limitaciones Conocidas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657600"/>
            <a:ext cx="5486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66666"/>
                </a:solidFill>
              </a:defRPr>
            </a:pPr>
            <a:r>
              <a:t>• No verificamos el compilador C (gcc/clang)</a:t>
            </a:r>
          </a:p>
          <a:p>
            <a:pPr>
              <a:spcAft>
                <a:spcPts val="800"/>
              </a:spcAft>
              <a:defRPr sz="1600">
                <a:solidFill>
                  <a:srgbClr val="666666"/>
                </a:solidFill>
              </a:defRPr>
            </a:pPr>
            <a:r>
              <a:t>• No analizamos memory safety en C</a:t>
            </a:r>
          </a:p>
          <a:p>
            <a:pPr>
              <a:spcAft>
                <a:spcPts val="800"/>
              </a:spcAft>
              <a:defRPr sz="1600">
                <a:solidFill>
                  <a:srgbClr val="666666"/>
                </a:solidFill>
              </a:defRPr>
            </a:pPr>
            <a:r>
              <a:t>• No analizamos timing side channels</a:t>
            </a:r>
          </a:p>
          <a:p>
            <a:pPr>
              <a:spcAft>
                <a:spcPts val="800"/>
              </a:spcAft>
              <a:defRPr sz="1600">
                <a:solidFill>
                  <a:srgbClr val="666666"/>
                </a:solidFill>
              </a:defRPr>
            </a:pPr>
            <a:r>
              <a:t>• Hash functions son placeholders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Lecciones Aprendidas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1. Fuzzing diferencial &gt; Unit tests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El buffer swap bug paso todos los tests unitarios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Solo fallo en comparacion end-to-end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2. Generar codigo ANTES de probar teoremas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ADR-008: Evitar 'verificacion en el vacio'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Probar teoremas sobre codigo buggy es inutil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3. Traduccion funcional-&gt;imperativo es error-prone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Estado explicito vs punteros mutables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Requiere atencion especial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4. Proof Anchors habilitan auditoria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Trazabilidad codigo C &lt;-&gt; teoremas Lean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Humanos pueden verificar correspondencia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Trabajo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Corto plazo: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Completar teoremas con sorry pendientes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Mas vectores de test para fuzzing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Variantes AVX-512 de kernels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Mediano plazo: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Integrar hash criptografico real (Poseidon)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Query phase de FRI (no solo commit)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Extender a STARK prover completo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Largo plazo: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Verificacion formal de codigo C (CompCert-style)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Generacion de codigo GPU (CUDA/Metal)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Integracion con sistemas ZK de produccion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2E86AB"/>
                </a:solidFill>
              </a:defRPr>
            </a:pPr>
            <a:r>
              <a:t>AMO-Lean demuestra que la compilacion verificada</a:t>
            </a:r>
            <a:br/>
            <a:r>
              <a:t>de protocolos criptograficos es PRACTICA.</a:t>
            </a:r>
            <a:br/>
            <a:br/>
            <a:r>
              <a:t>El bug de buffer swap justifica toda la metodologia.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1. Willsey et al. 'egg: Fast and Extensible Equality Saturation' (POPL 2021)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2. Franchetti et al. 'SPIRAL: Code Generation for DSP Transforms' (IEEE 2005)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3. Gross et al. 'Verified Rewriting Engine' (ITP 2022) - Fiat-Crypto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4. Xi &amp; Pfenning 'Dependent Types in Practical Programming' (POPL 1999)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5. Ben-Sasson et al. 'Fast Reed-Solomon IOP of Proximity' (ICALP 2018)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Repositorio: github.com/manuelpuebla/amo-lean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Documentacion: docs/FINAL_REPORT.md, docs/PROJECT_STATUS.md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